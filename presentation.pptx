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2" r:id="rId5"/>
    <p:sldId id="309" r:id="rId6"/>
    <p:sldId id="310" r:id="rId7"/>
    <p:sldId id="311" r:id="rId8"/>
    <p:sldId id="312" r:id="rId9"/>
    <p:sldId id="316" r:id="rId10"/>
    <p:sldId id="313" r:id="rId11"/>
    <p:sldId id="314" r:id="rId12"/>
    <p:sldId id="315" r:id="rId13"/>
    <p:sldId id="31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19" autoAdjust="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2" qsCatId="simple" csTypeId="urn:microsoft.com/office/officeart/2005/8/colors/accent0_3" csCatId="mainScheme" phldr="1"/>
      <dgm:spPr/>
      <dgm:t>
        <a:bodyPr/>
        <a:lstStyle/>
        <a:p>
          <a:endParaRPr lang="en-US"/>
        </a:p>
      </dgm:t>
    </dgm:pt>
    <dgm:pt modelId="{AAF9DEE3-8444-4CA1-8BC2-D834D3ED6C74}">
      <dgm:prSet custT="1"/>
      <dgm:spPr/>
      <dgm:t>
        <a:bodyPr/>
        <a:lstStyle/>
        <a:p>
          <a:r>
            <a:rPr lang="en-US" sz="3000" dirty="0">
              <a:latin typeface="Arial Rounded MT Bold" panose="020F0704030504030204" pitchFamily="34" charset="0"/>
            </a:rPr>
            <a:t>Face</a:t>
          </a:r>
          <a:r>
            <a:rPr lang="en-US" sz="3000" baseline="0" dirty="0">
              <a:latin typeface="Arial Rounded MT Bold" panose="020F0704030504030204" pitchFamily="34" charset="0"/>
            </a:rPr>
            <a:t> Detection </a:t>
          </a:r>
          <a:br>
            <a:rPr lang="en-US" sz="2500" baseline="0" dirty="0"/>
          </a:br>
          <a:br>
            <a:rPr lang="en-US" sz="2500" baseline="0" dirty="0"/>
          </a:br>
          <a:r>
            <a:rPr lang="en-US" sz="1500" baseline="0" dirty="0"/>
            <a:t>Used a custom-trained YOLO 11l model on the WIDER FACE dataset to detect faces in images.</a:t>
          </a:r>
          <a:endParaRPr lang="en-US" sz="1500" dirty="0"/>
        </a:p>
      </dgm:t>
    </dgm:pt>
    <dgm:pt modelId="{205BDF49-153E-4CE8-8402-E23704595764}" type="parTrans" cxnId="{0A7DA706-17DD-412A-8BE0-4F6529274E66}">
      <dgm:prSet/>
      <dgm:spPr/>
      <dgm:t>
        <a:bodyPr/>
        <a:lstStyle/>
        <a:p>
          <a:endParaRPr lang="en-US"/>
        </a:p>
      </dgm:t>
    </dgm:pt>
    <dgm:pt modelId="{23210C7F-6847-491E-BE1F-A79529AF2B8B}" type="sibTrans" cxnId="{0A7DA706-17DD-412A-8BE0-4F6529274E66}">
      <dgm:prSet phldrT="01" phldr="0"/>
      <dgm:spPr/>
      <dgm:t>
        <a:bodyPr/>
        <a:lstStyle/>
        <a:p>
          <a:r>
            <a:rPr lang="en-US"/>
            <a:t>01</a:t>
          </a:r>
          <a:endParaRPr lang="en-US" dirty="0"/>
        </a:p>
      </dgm:t>
    </dgm:pt>
    <dgm:pt modelId="{B2B879BD-3840-400C-92BD-B2C2383358D7}">
      <dgm:prSet custT="1"/>
      <dgm:spPr/>
      <dgm:t>
        <a:bodyPr/>
        <a:lstStyle/>
        <a:p>
          <a:r>
            <a:rPr lang="en-IN" sz="3000" b="0" dirty="0">
              <a:latin typeface="Arial Rounded MT Bold" panose="020F0704030504030204" pitchFamily="34" charset="0"/>
            </a:rPr>
            <a:t>Feature Extraction</a:t>
          </a:r>
          <a:br>
            <a:rPr lang="en-IN" sz="2000" dirty="0"/>
          </a:br>
          <a:br>
            <a:rPr lang="en-IN" sz="2000" dirty="0"/>
          </a:br>
          <a:r>
            <a:rPr lang="en-US" sz="1500" dirty="0"/>
            <a:t>Employed </a:t>
          </a:r>
          <a:r>
            <a:rPr lang="en-US" sz="1500" dirty="0" err="1"/>
            <a:t>InsightFace</a:t>
          </a:r>
          <a:r>
            <a:rPr lang="en-US" sz="1500" dirty="0"/>
            <a:t> (</a:t>
          </a:r>
          <a:r>
            <a:rPr lang="en-US" sz="1500" dirty="0" err="1"/>
            <a:t>Buffalo_L</a:t>
          </a:r>
          <a:r>
            <a:rPr lang="en-US" sz="1500" dirty="0"/>
            <a:t> model) to generate 512-dimensional embeddings for each detected face.</a:t>
          </a:r>
        </a:p>
      </dgm:t>
    </dgm:pt>
    <dgm:pt modelId="{FBAA44FF-54DE-45C8-9FAC-512C40277233}" type="sibTrans" cxnId="{42CDCACA-F394-4044-BBF6-522A0005ABCB}">
      <dgm:prSet phldrT="02" phldr="0"/>
      <dgm:spPr/>
      <dgm:t>
        <a:bodyPr/>
        <a:lstStyle/>
        <a:p>
          <a:r>
            <a:rPr lang="en-US"/>
            <a:t>02</a:t>
          </a:r>
          <a:endParaRPr lang="en-US" dirty="0"/>
        </a:p>
      </dgm:t>
    </dgm:pt>
    <dgm:pt modelId="{09440D86-F3E6-4A3C-9E78-1AFC56348641}" type="parTrans" cxnId="{42CDCACA-F394-4044-BBF6-522A0005ABCB}">
      <dgm:prSet/>
      <dgm:spPr/>
      <dgm:t>
        <a:bodyPr/>
        <a:lstStyle/>
        <a:p>
          <a:endParaRPr lang="en-US"/>
        </a:p>
      </dgm:t>
    </dgm:pt>
    <dgm:pt modelId="{CA9D674E-4FF1-45DC-82E4-0B2DB6A5363F}">
      <dgm:prSet custT="1"/>
      <dgm:spPr/>
      <dgm:t>
        <a:bodyPr/>
        <a:lstStyle/>
        <a:p>
          <a:r>
            <a:rPr lang="en-IN" sz="3000" dirty="0">
              <a:latin typeface="Arial Rounded MT Bold" panose="020F0704030504030204" pitchFamily="34" charset="0"/>
            </a:rPr>
            <a:t>Face Matching</a:t>
          </a:r>
          <a:br>
            <a:rPr lang="en-US" sz="3000" dirty="0">
              <a:latin typeface="Arial Rounded MT Bold" panose="020F0704030504030204" pitchFamily="34" charset="0"/>
            </a:rPr>
          </a:br>
          <a:br>
            <a:rPr lang="en-US" sz="2600" dirty="0"/>
          </a:br>
          <a:r>
            <a:rPr lang="en-US" sz="1500" dirty="0"/>
            <a:t>Compared extracted embeddings with precomputed reference embeddings using cosine similarity to identify known individuals.</a:t>
          </a:r>
          <a:r>
            <a:rPr lang="en-US" sz="2600" dirty="0"/>
            <a:t>
</a:t>
          </a:r>
          <a:endParaRPr lang="en-US" sz="2000" dirty="0"/>
        </a:p>
      </dgm:t>
    </dgm:pt>
    <dgm:pt modelId="{196DA4DC-9DD2-4A39-8A3A-D367BFE5A8BA}" type="sibTrans" cxnId="{C5BD0B3A-2D82-4EC1-9975-05076C4418DA}">
      <dgm:prSet phldrT="03" phldr="0"/>
      <dgm:spPr/>
      <dgm:t>
        <a:bodyPr/>
        <a:lstStyle/>
        <a:p>
          <a:r>
            <a:rPr lang="en-US"/>
            <a:t>03</a:t>
          </a:r>
          <a:endParaRPr lang="en-US" dirty="0"/>
        </a:p>
      </dgm:t>
    </dgm:pt>
    <dgm:pt modelId="{F1F10F9B-925A-4787-9D00-91106497A02E}" type="parTrans" cxnId="{C5BD0B3A-2D82-4EC1-9975-05076C4418DA}">
      <dgm:prSet/>
      <dgm:spPr/>
      <dgm:t>
        <a:bodyPr/>
        <a:lstStyle/>
        <a:p>
          <a:endParaRPr lang="en-US"/>
        </a:p>
      </dgm:t>
    </dgm:pt>
    <dgm:pt modelId="{09F899AB-70CA-46DA-8F8C-58514A9FEF67}" type="pres">
      <dgm:prSet presAssocID="{15509919-36B5-4162-8899-417A9F93473B}" presName="Name0" presStyleCnt="0">
        <dgm:presLayoutVars>
          <dgm:animLvl val="lvl"/>
          <dgm:resizeHandles val="exact"/>
        </dgm:presLayoutVars>
      </dgm:prSet>
      <dgm:spPr/>
    </dgm:pt>
    <dgm:pt modelId="{9E708B2C-9056-43B8-820C-8D4D2D591614}" type="pres">
      <dgm:prSet presAssocID="{AAF9DEE3-8444-4CA1-8BC2-D834D3ED6C74}" presName="compositeNode" presStyleCnt="0">
        <dgm:presLayoutVars>
          <dgm:bulletEnabled val="1"/>
        </dgm:presLayoutVars>
      </dgm:prSet>
      <dgm:spPr/>
    </dgm:pt>
    <dgm:pt modelId="{F4992080-7D4E-4F2B-B608-170DDBB6006A}" type="pres">
      <dgm:prSet presAssocID="{AAF9DEE3-8444-4CA1-8BC2-D834D3ED6C74}" presName="bgRect" presStyleLbl="alignNode1" presStyleIdx="0" presStyleCnt="3" custLinFactNeighborX="-16552" custLinFactNeighborY="918"/>
      <dgm:spPr/>
    </dgm:pt>
    <dgm:pt modelId="{15536E38-36FE-4A51-B620-2715BFAD5475}" type="pres">
      <dgm:prSet presAssocID="{23210C7F-6847-491E-BE1F-A79529AF2B8B}" presName="sibTransNodeRect" presStyleLbl="alignNode1" presStyleIdx="0" presStyleCnt="3">
        <dgm:presLayoutVars>
          <dgm:chMax val="0"/>
          <dgm:bulletEnabled val="1"/>
        </dgm:presLayoutVars>
      </dgm:prSet>
      <dgm:spPr/>
    </dgm:pt>
    <dgm:pt modelId="{B158057C-23C1-45AE-9273-5935A8F6104B}" type="pres">
      <dgm:prSet presAssocID="{AAF9DEE3-8444-4CA1-8BC2-D834D3ED6C74}" presName="nodeRect" presStyleLbl="alignNode1" presStyleIdx="0" presStyleCnt="3">
        <dgm:presLayoutVars>
          <dgm:bulletEnabled val="1"/>
        </dgm:presLayoutVars>
      </dgm:prSet>
      <dgm:spPr/>
    </dgm:pt>
    <dgm:pt modelId="{5D52B8B6-958E-480C-9455-911A104C8C73}" type="pres">
      <dgm:prSet presAssocID="{23210C7F-6847-491E-BE1F-A79529AF2B8B}" presName="sibTrans" presStyleCnt="0"/>
      <dgm:spPr/>
    </dgm:pt>
    <dgm:pt modelId="{070CFBFA-AE62-406D-B2E3-4A871FE3EC95}" type="pres">
      <dgm:prSet presAssocID="{B2B879BD-3840-400C-92BD-B2C2383358D7}" presName="compositeNode" presStyleCnt="0">
        <dgm:presLayoutVars>
          <dgm:bulletEnabled val="1"/>
        </dgm:presLayoutVars>
      </dgm:prSet>
      <dgm:spPr/>
    </dgm:pt>
    <dgm:pt modelId="{89A9B4CF-6439-46B1-B6A9-1D6CD5034774}" type="pres">
      <dgm:prSet presAssocID="{B2B879BD-3840-400C-92BD-B2C2383358D7}" presName="bgRect" presStyleLbl="alignNode1" presStyleIdx="1" presStyleCnt="3"/>
      <dgm:spPr/>
    </dgm:pt>
    <dgm:pt modelId="{379B8CE4-8135-4F2C-A5A0-E55EBE328E9A}" type="pres">
      <dgm:prSet presAssocID="{FBAA44FF-54DE-45C8-9FAC-512C40277233}" presName="sibTransNodeRect" presStyleLbl="alignNode1" presStyleIdx="1" presStyleCnt="3">
        <dgm:presLayoutVars>
          <dgm:chMax val="0"/>
          <dgm:bulletEnabled val="1"/>
        </dgm:presLayoutVars>
      </dgm:prSet>
      <dgm:spPr/>
    </dgm:pt>
    <dgm:pt modelId="{9F2B2B99-E41C-48B6-9241-186B3896CDB2}" type="pres">
      <dgm:prSet presAssocID="{B2B879BD-3840-400C-92BD-B2C2383358D7}" presName="nodeRect" presStyleLbl="alignNode1" presStyleIdx="1" presStyleCnt="3">
        <dgm:presLayoutVars>
          <dgm:bulletEnabled val="1"/>
        </dgm:presLayoutVars>
      </dgm:prSet>
      <dgm:spPr/>
    </dgm:pt>
    <dgm:pt modelId="{88CC7DDE-DA0F-42A6-8406-A11161BD6BA9}" type="pres">
      <dgm:prSet presAssocID="{FBAA44FF-54DE-45C8-9FAC-512C40277233}" presName="sibTrans" presStyleCnt="0"/>
      <dgm:spPr/>
    </dgm:pt>
    <dgm:pt modelId="{4C550E1C-ACB2-4A5D-BD4A-3D5D60E405E6}" type="pres">
      <dgm:prSet presAssocID="{CA9D674E-4FF1-45DC-82E4-0B2DB6A5363F}" presName="compositeNode" presStyleCnt="0">
        <dgm:presLayoutVars>
          <dgm:bulletEnabled val="1"/>
        </dgm:presLayoutVars>
      </dgm:prSet>
      <dgm:spPr/>
    </dgm:pt>
    <dgm:pt modelId="{0802B4A8-7224-4B0A-95B7-D17AEB2B2AFF}" type="pres">
      <dgm:prSet presAssocID="{CA9D674E-4FF1-45DC-82E4-0B2DB6A5363F}" presName="bgRect" presStyleLbl="alignNode1" presStyleIdx="2" presStyleCnt="3" custLinFactNeighborX="-181"/>
      <dgm:spPr/>
    </dgm:pt>
    <dgm:pt modelId="{68AC9669-DC11-473A-AA2E-579A44E78C37}" type="pres">
      <dgm:prSet presAssocID="{196DA4DC-9DD2-4A39-8A3A-D367BFE5A8BA}" presName="sibTransNodeRect" presStyleLbl="alignNode1" presStyleIdx="2" presStyleCnt="3">
        <dgm:presLayoutVars>
          <dgm:chMax val="0"/>
          <dgm:bulletEnabled val="1"/>
        </dgm:presLayoutVars>
      </dgm:prSet>
      <dgm:spPr/>
    </dgm:pt>
    <dgm:pt modelId="{D085015A-41AF-4EFA-A104-4FD73B2362F0}" type="pres">
      <dgm:prSet presAssocID="{CA9D674E-4FF1-45DC-82E4-0B2DB6A5363F}" presName="nodeRect" presStyleLbl="alignNode1" presStyleIdx="2" presStyleCnt="3">
        <dgm:presLayoutVars>
          <dgm:bulletEnabled val="1"/>
        </dgm:presLayoutVars>
      </dgm:prSet>
      <dgm:spPr/>
    </dgm:pt>
  </dgm:ptLst>
  <dgm:cxnLst>
    <dgm:cxn modelId="{0A7DA706-17DD-412A-8BE0-4F6529274E66}" srcId="{15509919-36B5-4162-8899-417A9F93473B}" destId="{AAF9DEE3-8444-4CA1-8BC2-D834D3ED6C74}" srcOrd="0" destOrd="0" parTransId="{205BDF49-153E-4CE8-8402-E23704595764}" sibTransId="{23210C7F-6847-491E-BE1F-A79529AF2B8B}"/>
    <dgm:cxn modelId="{109C0B15-B806-4127-A7EA-6F2FD85C2B5C}" type="presOf" srcId="{AAF9DEE3-8444-4CA1-8BC2-D834D3ED6C74}" destId="{B158057C-23C1-45AE-9273-5935A8F6104B}" srcOrd="1" destOrd="0" presId="urn:microsoft.com/office/officeart/2016/7/layout/LinearBlockProcessNumbered#1"/>
    <dgm:cxn modelId="{284ED317-FBD3-4318-9DC1-43DD0A7A84DA}" type="presOf" srcId="{CA9D674E-4FF1-45DC-82E4-0B2DB6A5363F}" destId="{D085015A-41AF-4EFA-A104-4FD73B2362F0}" srcOrd="1" destOrd="0" presId="urn:microsoft.com/office/officeart/2016/7/layout/LinearBlockProcessNumbered#1"/>
    <dgm:cxn modelId="{28938E20-006F-438A-BC3B-539C09A41AF8}" type="presOf" srcId="{23210C7F-6847-491E-BE1F-A79529AF2B8B}" destId="{15536E38-36FE-4A51-B620-2715BFAD5475}" srcOrd="0" destOrd="0" presId="urn:microsoft.com/office/officeart/2016/7/layout/LinearBlockProcessNumbered#1"/>
    <dgm:cxn modelId="{9519B82E-A537-470B-AA27-A5E33C934F3E}" type="presOf" srcId="{196DA4DC-9DD2-4A39-8A3A-D367BFE5A8BA}" destId="{68AC9669-DC11-473A-AA2E-579A44E78C37}" srcOrd="0" destOrd="0" presId="urn:microsoft.com/office/officeart/2016/7/layout/LinearBlockProcessNumbered#1"/>
    <dgm:cxn modelId="{E774C62E-62A2-478F-B2D4-49AC51F9A4FC}" type="presOf" srcId="{FBAA44FF-54DE-45C8-9FAC-512C40277233}" destId="{379B8CE4-8135-4F2C-A5A0-E55EBE328E9A}" srcOrd="0" destOrd="0" presId="urn:microsoft.com/office/officeart/2016/7/layout/LinearBlockProcessNumbered#1"/>
    <dgm:cxn modelId="{C5BD0B3A-2D82-4EC1-9975-05076C4418DA}" srcId="{15509919-36B5-4162-8899-417A9F93473B}" destId="{CA9D674E-4FF1-45DC-82E4-0B2DB6A5363F}" srcOrd="2" destOrd="0" parTransId="{F1F10F9B-925A-4787-9D00-91106497A02E}" sibTransId="{196DA4DC-9DD2-4A39-8A3A-D367BFE5A8BA}"/>
    <dgm:cxn modelId="{6E5EF465-680F-4962-87CA-2B44BA61BBF3}" type="presOf" srcId="{AAF9DEE3-8444-4CA1-8BC2-D834D3ED6C74}" destId="{F4992080-7D4E-4F2B-B608-170DDBB6006A}" srcOrd="0" destOrd="0" presId="urn:microsoft.com/office/officeart/2016/7/layout/LinearBlockProcessNumbered#1"/>
    <dgm:cxn modelId="{BE05FF76-48E4-476C-9495-A13A63321F9B}" type="presOf" srcId="{B2B879BD-3840-400C-92BD-B2C2383358D7}" destId="{89A9B4CF-6439-46B1-B6A9-1D6CD5034774}" srcOrd="0" destOrd="0" presId="urn:microsoft.com/office/officeart/2016/7/layout/LinearBlockProcessNumbered#1"/>
    <dgm:cxn modelId="{AEC6D081-73F8-41AD-9101-B43295B68E14}" type="presOf" srcId="{CA9D674E-4FF1-45DC-82E4-0B2DB6A5363F}" destId="{0802B4A8-7224-4B0A-95B7-D17AEB2B2AFF}" srcOrd="0" destOrd="0" presId="urn:microsoft.com/office/officeart/2016/7/layout/LinearBlockProcessNumbered#1"/>
    <dgm:cxn modelId="{840BB0C7-181A-4BA4-9324-C35937B4BA77}" type="presOf" srcId="{15509919-36B5-4162-8899-417A9F93473B}" destId="{09F899AB-70CA-46DA-8F8C-58514A9FEF67}" srcOrd="0" destOrd="0" presId="urn:microsoft.com/office/officeart/2016/7/layout/LinearBlockProcessNumbered#1"/>
    <dgm:cxn modelId="{42CDCACA-F394-4044-BBF6-522A0005ABCB}" srcId="{15509919-36B5-4162-8899-417A9F93473B}" destId="{B2B879BD-3840-400C-92BD-B2C2383358D7}" srcOrd="1" destOrd="0" parTransId="{09440D86-F3E6-4A3C-9E78-1AFC56348641}" sibTransId="{FBAA44FF-54DE-45C8-9FAC-512C40277233}"/>
    <dgm:cxn modelId="{6AB3E3E3-CAC3-4821-AAD0-21289FC8AF3F}" type="presOf" srcId="{B2B879BD-3840-400C-92BD-B2C2383358D7}" destId="{9F2B2B99-E41C-48B6-9241-186B3896CDB2}" srcOrd="1" destOrd="0" presId="urn:microsoft.com/office/officeart/2016/7/layout/LinearBlockProcessNumbered#1"/>
    <dgm:cxn modelId="{90D3E440-E32E-4616-A794-C357B58C725C}" type="presParOf" srcId="{09F899AB-70CA-46DA-8F8C-58514A9FEF67}" destId="{9E708B2C-9056-43B8-820C-8D4D2D591614}" srcOrd="0" destOrd="0" presId="urn:microsoft.com/office/officeart/2016/7/layout/LinearBlockProcessNumbered#1"/>
    <dgm:cxn modelId="{94905F72-0547-4876-85BD-1CE201853F0E}" type="presParOf" srcId="{9E708B2C-9056-43B8-820C-8D4D2D591614}" destId="{F4992080-7D4E-4F2B-B608-170DDBB6006A}" srcOrd="0" destOrd="0" presId="urn:microsoft.com/office/officeart/2016/7/layout/LinearBlockProcessNumbered#1"/>
    <dgm:cxn modelId="{32F232D9-C82F-455D-A4CB-8A6F950974CB}" type="presParOf" srcId="{9E708B2C-9056-43B8-820C-8D4D2D591614}" destId="{15536E38-36FE-4A51-B620-2715BFAD5475}" srcOrd="1" destOrd="0" presId="urn:microsoft.com/office/officeart/2016/7/layout/LinearBlockProcessNumbered#1"/>
    <dgm:cxn modelId="{E1630E94-0972-452E-A256-8FE168492E2F}" type="presParOf" srcId="{9E708B2C-9056-43B8-820C-8D4D2D591614}" destId="{B158057C-23C1-45AE-9273-5935A8F6104B}" srcOrd="2" destOrd="0" presId="urn:microsoft.com/office/officeart/2016/7/layout/LinearBlockProcessNumbered#1"/>
    <dgm:cxn modelId="{3D53040A-6114-439D-91AE-A92823686B42}" type="presParOf" srcId="{09F899AB-70CA-46DA-8F8C-58514A9FEF67}" destId="{5D52B8B6-958E-480C-9455-911A104C8C73}" srcOrd="1" destOrd="0" presId="urn:microsoft.com/office/officeart/2016/7/layout/LinearBlockProcessNumbered#1"/>
    <dgm:cxn modelId="{71CD1E60-9941-432A-AAD3-6BEE9759C7CA}" type="presParOf" srcId="{09F899AB-70CA-46DA-8F8C-58514A9FEF67}" destId="{070CFBFA-AE62-406D-B2E3-4A871FE3EC95}" srcOrd="2" destOrd="0" presId="urn:microsoft.com/office/officeart/2016/7/layout/LinearBlockProcessNumbered#1"/>
    <dgm:cxn modelId="{E24E5F24-B05D-485A-B1E3-F029361EAC2F}" type="presParOf" srcId="{070CFBFA-AE62-406D-B2E3-4A871FE3EC95}" destId="{89A9B4CF-6439-46B1-B6A9-1D6CD5034774}" srcOrd="0" destOrd="0" presId="urn:microsoft.com/office/officeart/2016/7/layout/LinearBlockProcessNumbered#1"/>
    <dgm:cxn modelId="{B1A2A29E-FBA6-4188-BE73-D4752962B995}" type="presParOf" srcId="{070CFBFA-AE62-406D-B2E3-4A871FE3EC95}" destId="{379B8CE4-8135-4F2C-A5A0-E55EBE328E9A}" srcOrd="1" destOrd="0" presId="urn:microsoft.com/office/officeart/2016/7/layout/LinearBlockProcessNumbered#1"/>
    <dgm:cxn modelId="{F07F5881-E747-4C57-B3A8-80D81CA9E653}" type="presParOf" srcId="{070CFBFA-AE62-406D-B2E3-4A871FE3EC95}" destId="{9F2B2B99-E41C-48B6-9241-186B3896CDB2}" srcOrd="2" destOrd="0" presId="urn:microsoft.com/office/officeart/2016/7/layout/LinearBlockProcessNumbered#1"/>
    <dgm:cxn modelId="{CFE97617-C516-4DC5-9F9C-80DAA0EDE08F}" type="presParOf" srcId="{09F899AB-70CA-46DA-8F8C-58514A9FEF67}" destId="{88CC7DDE-DA0F-42A6-8406-A11161BD6BA9}" srcOrd="3" destOrd="0" presId="urn:microsoft.com/office/officeart/2016/7/layout/LinearBlockProcessNumbered#1"/>
    <dgm:cxn modelId="{B7A23FED-2302-47D8-8E80-C7B4D99F0301}" type="presParOf" srcId="{09F899AB-70CA-46DA-8F8C-58514A9FEF67}" destId="{4C550E1C-ACB2-4A5D-BD4A-3D5D60E405E6}" srcOrd="4" destOrd="0" presId="urn:microsoft.com/office/officeart/2016/7/layout/LinearBlockProcessNumbered#1"/>
    <dgm:cxn modelId="{B9E766C8-B1F9-4299-93D9-C5605EEE5998}" type="presParOf" srcId="{4C550E1C-ACB2-4A5D-BD4A-3D5D60E405E6}" destId="{0802B4A8-7224-4B0A-95B7-D17AEB2B2AFF}" srcOrd="0" destOrd="0" presId="urn:microsoft.com/office/officeart/2016/7/layout/LinearBlockProcessNumbered#1"/>
    <dgm:cxn modelId="{DDDBCEBE-059F-40AD-A1D1-8D888A5BCC15}" type="presParOf" srcId="{4C550E1C-ACB2-4A5D-BD4A-3D5D60E405E6}" destId="{68AC9669-DC11-473A-AA2E-579A44E78C37}" srcOrd="1" destOrd="0" presId="urn:microsoft.com/office/officeart/2016/7/layout/LinearBlockProcessNumbered#1"/>
    <dgm:cxn modelId="{90FC101C-CCF0-411F-ABB9-797553DF6D08}" type="presParOf" srcId="{4C550E1C-ACB2-4A5D-BD4A-3D5D60E405E6}" destId="{D085015A-41AF-4EFA-A104-4FD73B2362F0}" srcOrd="2" destOrd="0" presId="urn:microsoft.com/office/officeart/2016/7/layout/LinearBlockProcessNumbere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92080-7D4E-4F2B-B608-170DDBB6006A}">
      <dsp:nvSpPr>
        <dsp:cNvPr id="0" name=""/>
        <dsp:cNvSpPr/>
      </dsp:nvSpPr>
      <dsp:spPr>
        <a:xfrm>
          <a:off x="0" y="0"/>
          <a:ext cx="3356043" cy="372561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31503" tIns="0" rIns="331503" bIns="330200" numCol="1" spcCol="1270" anchor="t" anchorCtr="0">
          <a:noAutofit/>
        </a:bodyPr>
        <a:lstStyle/>
        <a:p>
          <a:pPr marL="0" lvl="0" indent="0" algn="l" defTabSz="1333500">
            <a:lnSpc>
              <a:spcPct val="90000"/>
            </a:lnSpc>
            <a:spcBef>
              <a:spcPct val="0"/>
            </a:spcBef>
            <a:spcAft>
              <a:spcPct val="35000"/>
            </a:spcAft>
            <a:buNone/>
          </a:pPr>
          <a:r>
            <a:rPr lang="en-US" sz="3000" kern="1200" dirty="0">
              <a:latin typeface="Arial Rounded MT Bold" panose="020F0704030504030204" pitchFamily="34" charset="0"/>
            </a:rPr>
            <a:t>Face</a:t>
          </a:r>
          <a:r>
            <a:rPr lang="en-US" sz="3000" kern="1200" baseline="0" dirty="0">
              <a:latin typeface="Arial Rounded MT Bold" panose="020F0704030504030204" pitchFamily="34" charset="0"/>
            </a:rPr>
            <a:t> Detection </a:t>
          </a:r>
          <a:br>
            <a:rPr lang="en-US" sz="2500" kern="1200" baseline="0" dirty="0"/>
          </a:br>
          <a:br>
            <a:rPr lang="en-US" sz="2500" kern="1200" baseline="0" dirty="0"/>
          </a:br>
          <a:r>
            <a:rPr lang="en-US" sz="1500" kern="1200" baseline="0" dirty="0"/>
            <a:t>Used a custom-trained YOLO 11l model on the WIDER FACE dataset to detect faces in images.</a:t>
          </a:r>
          <a:endParaRPr lang="en-US" sz="1500" kern="1200" dirty="0"/>
        </a:p>
      </dsp:txBody>
      <dsp:txXfrm>
        <a:off x="0" y="1490244"/>
        <a:ext cx="3356043" cy="2235367"/>
      </dsp:txXfrm>
    </dsp:sp>
    <dsp:sp modelId="{15536E38-36FE-4A51-B620-2715BFAD5475}">
      <dsp:nvSpPr>
        <dsp:cNvPr id="0" name=""/>
        <dsp:cNvSpPr/>
      </dsp:nvSpPr>
      <dsp:spPr>
        <a:xfrm>
          <a:off x="828" y="0"/>
          <a:ext cx="3356043" cy="149024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31503" tIns="165100" rIns="33150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828" y="0"/>
        <a:ext cx="3356043" cy="1490244"/>
      </dsp:txXfrm>
    </dsp:sp>
    <dsp:sp modelId="{89A9B4CF-6439-46B1-B6A9-1D6CD5034774}">
      <dsp:nvSpPr>
        <dsp:cNvPr id="0" name=""/>
        <dsp:cNvSpPr/>
      </dsp:nvSpPr>
      <dsp:spPr>
        <a:xfrm>
          <a:off x="3625355" y="0"/>
          <a:ext cx="3356043" cy="372561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31503" tIns="0" rIns="331503" bIns="330200" numCol="1" spcCol="1270" anchor="t" anchorCtr="0">
          <a:noAutofit/>
        </a:bodyPr>
        <a:lstStyle/>
        <a:p>
          <a:pPr marL="0" lvl="0" indent="0" algn="l" defTabSz="1333500">
            <a:lnSpc>
              <a:spcPct val="90000"/>
            </a:lnSpc>
            <a:spcBef>
              <a:spcPct val="0"/>
            </a:spcBef>
            <a:spcAft>
              <a:spcPct val="35000"/>
            </a:spcAft>
            <a:buNone/>
          </a:pPr>
          <a:r>
            <a:rPr lang="en-IN" sz="3000" b="0" kern="1200" dirty="0">
              <a:latin typeface="Arial Rounded MT Bold" panose="020F0704030504030204" pitchFamily="34" charset="0"/>
            </a:rPr>
            <a:t>Feature Extraction</a:t>
          </a:r>
          <a:br>
            <a:rPr lang="en-IN" sz="2000" kern="1200" dirty="0"/>
          </a:br>
          <a:br>
            <a:rPr lang="en-IN" sz="2000" kern="1200" dirty="0"/>
          </a:br>
          <a:r>
            <a:rPr lang="en-US" sz="1500" kern="1200" dirty="0"/>
            <a:t>Employed </a:t>
          </a:r>
          <a:r>
            <a:rPr lang="en-US" sz="1500" kern="1200" dirty="0" err="1"/>
            <a:t>InsightFace</a:t>
          </a:r>
          <a:r>
            <a:rPr lang="en-US" sz="1500" kern="1200" dirty="0"/>
            <a:t> (</a:t>
          </a:r>
          <a:r>
            <a:rPr lang="en-US" sz="1500" kern="1200" dirty="0" err="1"/>
            <a:t>Buffalo_L</a:t>
          </a:r>
          <a:r>
            <a:rPr lang="en-US" sz="1500" kern="1200" dirty="0"/>
            <a:t> model) to generate 512-dimensional embeddings for each detected face.</a:t>
          </a:r>
        </a:p>
      </dsp:txBody>
      <dsp:txXfrm>
        <a:off x="3625355" y="1490244"/>
        <a:ext cx="3356043" cy="2235367"/>
      </dsp:txXfrm>
    </dsp:sp>
    <dsp:sp modelId="{379B8CE4-8135-4F2C-A5A0-E55EBE328E9A}">
      <dsp:nvSpPr>
        <dsp:cNvPr id="0" name=""/>
        <dsp:cNvSpPr/>
      </dsp:nvSpPr>
      <dsp:spPr>
        <a:xfrm>
          <a:off x="3625355" y="0"/>
          <a:ext cx="3356043" cy="149024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31503" tIns="165100" rIns="33150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endParaRPr lang="en-US" sz="6600" kern="1200" dirty="0"/>
        </a:p>
      </dsp:txBody>
      <dsp:txXfrm>
        <a:off x="3625355" y="0"/>
        <a:ext cx="3356043" cy="1490244"/>
      </dsp:txXfrm>
    </dsp:sp>
    <dsp:sp modelId="{0802B4A8-7224-4B0A-95B7-D17AEB2B2AFF}">
      <dsp:nvSpPr>
        <dsp:cNvPr id="0" name=""/>
        <dsp:cNvSpPr/>
      </dsp:nvSpPr>
      <dsp:spPr>
        <a:xfrm>
          <a:off x="7243808" y="0"/>
          <a:ext cx="3356043" cy="372561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331503" tIns="0" rIns="331503" bIns="330200" numCol="1" spcCol="1270" anchor="t" anchorCtr="0">
          <a:noAutofit/>
        </a:bodyPr>
        <a:lstStyle/>
        <a:p>
          <a:pPr marL="0" lvl="0" indent="0" algn="l" defTabSz="1333500">
            <a:lnSpc>
              <a:spcPct val="90000"/>
            </a:lnSpc>
            <a:spcBef>
              <a:spcPct val="0"/>
            </a:spcBef>
            <a:spcAft>
              <a:spcPct val="35000"/>
            </a:spcAft>
            <a:buNone/>
          </a:pPr>
          <a:r>
            <a:rPr lang="en-IN" sz="3000" kern="1200" dirty="0">
              <a:latin typeface="Arial Rounded MT Bold" panose="020F0704030504030204" pitchFamily="34" charset="0"/>
            </a:rPr>
            <a:t>Face Matching</a:t>
          </a:r>
          <a:br>
            <a:rPr lang="en-US" sz="3000" kern="1200" dirty="0">
              <a:latin typeface="Arial Rounded MT Bold" panose="020F0704030504030204" pitchFamily="34" charset="0"/>
            </a:rPr>
          </a:br>
          <a:br>
            <a:rPr lang="en-US" sz="2600" kern="1200" dirty="0"/>
          </a:br>
          <a:r>
            <a:rPr lang="en-US" sz="1500" kern="1200" dirty="0"/>
            <a:t>Compared extracted embeddings with precomputed reference embeddings using cosine similarity to identify known individuals.</a:t>
          </a:r>
          <a:r>
            <a:rPr lang="en-US" sz="2600" kern="1200" dirty="0"/>
            <a:t>
</a:t>
          </a:r>
          <a:endParaRPr lang="en-US" sz="2000" kern="1200" dirty="0"/>
        </a:p>
      </dsp:txBody>
      <dsp:txXfrm>
        <a:off x="7243808" y="1490244"/>
        <a:ext cx="3356043" cy="2235367"/>
      </dsp:txXfrm>
    </dsp:sp>
    <dsp:sp modelId="{68AC9669-DC11-473A-AA2E-579A44E78C37}">
      <dsp:nvSpPr>
        <dsp:cNvPr id="0" name=""/>
        <dsp:cNvSpPr/>
      </dsp:nvSpPr>
      <dsp:spPr>
        <a:xfrm>
          <a:off x="7249882" y="0"/>
          <a:ext cx="3356043" cy="149024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331503" tIns="165100" rIns="33150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endParaRPr lang="en-US" sz="6600" kern="1200" dirty="0"/>
        </a:p>
      </dsp:txBody>
      <dsp:txXfrm>
        <a:off x="7249882" y="0"/>
        <a:ext cx="3356043" cy="149024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1">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4/18/2025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4/18/2025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4/18/2025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4/18/2025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4/18/2025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3"/>
          <a:srcRect t="3846"/>
          <a:stretch/>
        </p:blipFill>
        <p:spPr>
          <a:xfrm>
            <a:off x="20" y="10"/>
            <a:ext cx="12191979" cy="6857990"/>
          </a:xfrm>
          <a:prstGeom prst="rect">
            <a:avLst/>
          </a:prstGeom>
        </p:spPr>
      </p:pic>
      <p:sp>
        <p:nvSpPr>
          <p:cNvPr id="19" name="Rectangle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21" name="Rectangle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C0D7398C-75E5-4CB0-BA4F-D7D5CF2495D4}"/>
              </a:ext>
            </a:extLst>
          </p:cNvPr>
          <p:cNvSpPr>
            <a:spLocks noGrp="1"/>
          </p:cNvSpPr>
          <p:nvPr>
            <p:ph type="ctrTitle"/>
          </p:nvPr>
        </p:nvSpPr>
        <p:spPr>
          <a:xfrm>
            <a:off x="1276055" y="2182014"/>
            <a:ext cx="4775075" cy="1630906"/>
          </a:xfrm>
        </p:spPr>
        <p:txBody>
          <a:bodyPr>
            <a:noAutofit/>
          </a:bodyPr>
          <a:lstStyle/>
          <a:p>
            <a:r>
              <a:rPr lang="en-US" sz="3500" dirty="0">
                <a:solidFill>
                  <a:schemeClr val="tx1"/>
                </a:solidFill>
              </a:rPr>
              <a:t> smart Attendance system using face recognition</a:t>
            </a:r>
          </a:p>
        </p:txBody>
      </p:sp>
      <p:sp>
        <p:nvSpPr>
          <p:cNvPr id="3" name="Subtitle 2">
            <a:extLst>
              <a:ext uri="{FF2B5EF4-FFF2-40B4-BE49-F238E27FC236}">
                <a16:creationId xmlns:a16="http://schemas.microsoft.com/office/drawing/2014/main" id="{5C5BFB45-FC34-495C-9C68-F9641246C2EE}"/>
              </a:ext>
            </a:extLst>
          </p:cNvPr>
          <p:cNvSpPr>
            <a:spLocks noGrp="1"/>
          </p:cNvSpPr>
          <p:nvPr>
            <p:ph type="subTitle" idx="1"/>
          </p:nvPr>
        </p:nvSpPr>
        <p:spPr>
          <a:xfrm>
            <a:off x="1276055" y="3979492"/>
            <a:ext cx="4819945" cy="851300"/>
          </a:xfrm>
        </p:spPr>
        <p:txBody>
          <a:bodyPr>
            <a:normAutofit/>
          </a:bodyPr>
          <a:lstStyle/>
          <a:p>
            <a:r>
              <a:rPr lang="en-US" sz="1300" dirty="0">
                <a:solidFill>
                  <a:schemeClr val="tx1"/>
                </a:solidFill>
              </a:rPr>
              <a:t>Ayush Gupta (22EC01057)</a:t>
            </a:r>
            <a:br>
              <a:rPr lang="en-US" sz="1300" dirty="0">
                <a:solidFill>
                  <a:schemeClr val="tx1"/>
                </a:solidFill>
              </a:rPr>
            </a:br>
            <a:r>
              <a:rPr lang="en-US" sz="1300" dirty="0">
                <a:solidFill>
                  <a:schemeClr val="tx1"/>
                </a:solidFill>
              </a:rPr>
              <a:t>Sreekar </a:t>
            </a:r>
            <a:r>
              <a:rPr lang="en-US" sz="1300" dirty="0" err="1">
                <a:solidFill>
                  <a:schemeClr val="tx1"/>
                </a:solidFill>
              </a:rPr>
              <a:t>Vetsa</a:t>
            </a:r>
            <a:r>
              <a:rPr lang="en-US" sz="1300" dirty="0">
                <a:solidFill>
                  <a:schemeClr val="tx1"/>
                </a:solidFill>
              </a:rPr>
              <a:t> (22EC01058)</a:t>
            </a:r>
            <a:br>
              <a:rPr lang="en-US" sz="1300" dirty="0">
                <a:solidFill>
                  <a:schemeClr val="tx1"/>
                </a:solidFill>
              </a:rPr>
            </a:br>
            <a:r>
              <a:rPr lang="en-US" sz="1300" dirty="0">
                <a:solidFill>
                  <a:schemeClr val="tx1"/>
                </a:solidFill>
              </a:rPr>
              <a:t>Rohan Rudra (22EC01055)</a:t>
            </a: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8085-1FFF-44DD-A144-D794D923CF00}"/>
              </a:ext>
            </a:extLst>
          </p:cNvPr>
          <p:cNvSpPr>
            <a:spLocks noGrp="1"/>
          </p:cNvSpPr>
          <p:nvPr>
            <p:ph type="title"/>
          </p:nvPr>
        </p:nvSpPr>
        <p:spPr>
          <a:xfrm>
            <a:off x="1066800" y="642594"/>
            <a:ext cx="10058400" cy="1371600"/>
          </a:xfrm>
        </p:spPr>
        <p:txBody>
          <a:bodyPr>
            <a:normAutofit/>
          </a:bodyPr>
          <a:lstStyle/>
          <a:p>
            <a:pPr algn="ctr"/>
            <a:r>
              <a:rPr lang="en-US" sz="5400" b="1" dirty="0">
                <a:latin typeface="Times New Roman" panose="02020603050405020304" pitchFamily="18" charset="0"/>
                <a:cs typeface="Times New Roman" panose="02020603050405020304" pitchFamily="18" charset="0"/>
              </a:rPr>
              <a:t>Project Overview</a:t>
            </a:r>
          </a:p>
        </p:txBody>
      </p:sp>
      <p:graphicFrame>
        <p:nvGraphicFramePr>
          <p:cNvPr id="5" name="Content Placeholder 2" descr="SmartArt Process Diagram">
            <a:extLst>
              <a:ext uri="{FF2B5EF4-FFF2-40B4-BE49-F238E27FC236}">
                <a16:creationId xmlns:a16="http://schemas.microsoft.com/office/drawing/2014/main" id="{60233515-42BF-4401-AB7F-458C06159D34}"/>
              </a:ext>
            </a:extLst>
          </p:cNvPr>
          <p:cNvGraphicFramePr>
            <a:graphicFrameLocks noGrp="1"/>
          </p:cNvGraphicFramePr>
          <p:nvPr>
            <p:ph idx="1"/>
            <p:extLst>
              <p:ext uri="{D42A27DB-BD31-4B8C-83A1-F6EECF244321}">
                <p14:modId xmlns:p14="http://schemas.microsoft.com/office/powerpoint/2010/main" val="2140253774"/>
              </p:ext>
            </p:extLst>
          </p:nvPr>
        </p:nvGraphicFramePr>
        <p:xfrm>
          <a:off x="792622" y="2310063"/>
          <a:ext cx="10606755" cy="3725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377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C77EBA-985B-E826-94BB-B4701DD00FBA}"/>
              </a:ext>
            </a:extLst>
          </p:cNvPr>
          <p:cNvSpPr>
            <a:spLocks noGrp="1"/>
          </p:cNvSpPr>
          <p:nvPr>
            <p:ph type="title"/>
          </p:nvPr>
        </p:nvSpPr>
        <p:spPr>
          <a:xfrm>
            <a:off x="1066800" y="642594"/>
            <a:ext cx="10058400" cy="500406"/>
          </a:xfrm>
        </p:spPr>
        <p:txBody>
          <a:bodyPr>
            <a:noAutofit/>
          </a:bodyPr>
          <a:lstStyle/>
          <a:p>
            <a:r>
              <a:rPr lang="en-US" sz="4400" b="1" dirty="0">
                <a:latin typeface="Times New Roman" panose="02020603050405020304" pitchFamily="18" charset="0"/>
                <a:cs typeface="Times New Roman" panose="02020603050405020304" pitchFamily="18" charset="0"/>
              </a:rPr>
              <a:t>YOLO 11l  (You Only Look Once) </a:t>
            </a:r>
            <a:endParaRPr lang="en-IN" sz="44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4A2052D-B19A-794E-FA0C-5ACC3666B8BE}"/>
              </a:ext>
            </a:extLst>
          </p:cNvPr>
          <p:cNvSpPr>
            <a:spLocks noGrp="1"/>
          </p:cNvSpPr>
          <p:nvPr>
            <p:ph idx="1"/>
          </p:nvPr>
        </p:nvSpPr>
        <p:spPr>
          <a:xfrm>
            <a:off x="1066800" y="1377950"/>
            <a:ext cx="10058400" cy="4574794"/>
          </a:xfrm>
        </p:spPr>
        <p:txBody>
          <a:bodyPr>
            <a:noAutofit/>
          </a:bodyPr>
          <a:lstStyle/>
          <a:p>
            <a:pPr>
              <a:buFont typeface="Wingdings" panose="05000000000000000000" pitchFamily="2" charset="2"/>
              <a:buChar char="Ø"/>
            </a:pPr>
            <a:r>
              <a:rPr lang="en-US" sz="2000" u="sng" dirty="0"/>
              <a:t>What is YOLO? </a:t>
            </a:r>
          </a:p>
          <a:p>
            <a:pPr marL="274320" lvl="1" indent="0">
              <a:buNone/>
            </a:pPr>
            <a:r>
              <a:rPr lang="en-US" sz="1700" dirty="0"/>
              <a:t>YOLO is a real-time object detection algorithm that detects and classifies objects in images using a single neural network pass.</a:t>
            </a:r>
          </a:p>
          <a:p>
            <a:pPr>
              <a:buFont typeface="Wingdings" panose="05000000000000000000" pitchFamily="2" charset="2"/>
              <a:buChar char="Ø"/>
            </a:pPr>
            <a:r>
              <a:rPr lang="en-US" sz="1700" u="sng" dirty="0"/>
              <a:t> </a:t>
            </a:r>
            <a:r>
              <a:rPr lang="en-US" sz="2000" u="sng" dirty="0"/>
              <a:t>How does YOLO work</a:t>
            </a:r>
            <a:r>
              <a:rPr lang="en-US" sz="2000" dirty="0"/>
              <a:t>? </a:t>
            </a:r>
          </a:p>
          <a:p>
            <a:pPr marL="274320" lvl="1" indent="0">
              <a:buNone/>
            </a:pPr>
            <a:r>
              <a:rPr lang="en-US" sz="1700" dirty="0"/>
              <a:t>The input image is divided into a grid. Each grid cell predicts bounding boxes, confidence scores, and class probabilities for objects whose centers fall inside the cell. All predictions are made simultaneously in one forward pass, making YOLO extremely fast.</a:t>
            </a:r>
          </a:p>
          <a:p>
            <a:pPr>
              <a:buFont typeface="Wingdings" panose="05000000000000000000" pitchFamily="2" charset="2"/>
              <a:buChar char="Ø"/>
            </a:pPr>
            <a:r>
              <a:rPr lang="en-US" sz="1700" u="sng" dirty="0"/>
              <a:t> </a:t>
            </a:r>
            <a:r>
              <a:rPr lang="en-US" sz="2000" u="sng" dirty="0"/>
              <a:t>Key Features</a:t>
            </a:r>
            <a:r>
              <a:rPr lang="en-US" sz="2000" dirty="0"/>
              <a:t>:</a:t>
            </a:r>
          </a:p>
          <a:p>
            <a:pPr lvl="1"/>
            <a:r>
              <a:rPr lang="en-US" sz="1700" dirty="0"/>
              <a:t>Single-stage detection: Unlike older methods that use multiple steps, YOLO predicts all bounding boxes and classes in one go, which greatly improves speed.</a:t>
            </a:r>
          </a:p>
          <a:p>
            <a:pPr lvl="1"/>
            <a:r>
              <a:rPr lang="en-US" sz="1700" dirty="0"/>
              <a:t>Speed and real-time performance: YOLO can process images at high frame rates (up to 45 FPS or more), making it suitable for real-time applications like surveillance and autonomous vehicles.</a:t>
            </a:r>
          </a:p>
          <a:p>
            <a:pPr lvl="1"/>
            <a:r>
              <a:rPr lang="en-US" sz="1700" dirty="0"/>
              <a:t>Accuracy: YOLO achieves high accuracy and low false positives by considering the entire image context during detection</a:t>
            </a:r>
            <a:endParaRPr lang="en-IN" sz="1700" dirty="0"/>
          </a:p>
        </p:txBody>
      </p:sp>
    </p:spTree>
    <p:extLst>
      <p:ext uri="{BB962C8B-B14F-4D97-AF65-F5344CB8AC3E}">
        <p14:creationId xmlns:p14="http://schemas.microsoft.com/office/powerpoint/2010/main" val="1420590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BFBF-48F6-F701-C051-D74C5DFAE702}"/>
              </a:ext>
            </a:extLst>
          </p:cNvPr>
          <p:cNvSpPr>
            <a:spLocks noGrp="1"/>
          </p:cNvSpPr>
          <p:nvPr>
            <p:ph type="title"/>
          </p:nvPr>
        </p:nvSpPr>
        <p:spPr>
          <a:xfrm>
            <a:off x="1066800" y="642594"/>
            <a:ext cx="10058400" cy="621056"/>
          </a:xfrm>
        </p:spPr>
        <p:txBody>
          <a:bodyPr/>
          <a:lstStyle/>
          <a:p>
            <a:r>
              <a:rPr lang="en-IN" dirty="0"/>
              <a:t>WIDER FACE Dataset</a:t>
            </a:r>
          </a:p>
        </p:txBody>
      </p:sp>
      <p:sp>
        <p:nvSpPr>
          <p:cNvPr id="3" name="Content Placeholder 2">
            <a:extLst>
              <a:ext uri="{FF2B5EF4-FFF2-40B4-BE49-F238E27FC236}">
                <a16:creationId xmlns:a16="http://schemas.microsoft.com/office/drawing/2014/main" id="{543CC409-91F1-BC8D-2A81-F7519FC82F55}"/>
              </a:ext>
            </a:extLst>
          </p:cNvPr>
          <p:cNvSpPr>
            <a:spLocks noGrp="1"/>
          </p:cNvSpPr>
          <p:nvPr>
            <p:ph idx="1"/>
          </p:nvPr>
        </p:nvSpPr>
        <p:spPr>
          <a:xfrm>
            <a:off x="1066800" y="1835150"/>
            <a:ext cx="10058400" cy="4117594"/>
          </a:xfrm>
        </p:spPr>
        <p:txBody>
          <a:bodyPr>
            <a:normAutofit/>
          </a:bodyPr>
          <a:lstStyle/>
          <a:p>
            <a:r>
              <a:rPr lang="en-US" sz="1700" dirty="0"/>
              <a:t>WIDER FACE is a benchmark face detection dataset that contains 32,203 images and 393,703 labeled faces with varying scales, poses, and occlusions.  </a:t>
            </a:r>
          </a:p>
          <a:p>
            <a:r>
              <a:rPr lang="en-US" sz="1700" dirty="0"/>
              <a:t>The dataset is split into training, validation, and testing sets with annotations provided for training and validation.  </a:t>
            </a:r>
          </a:p>
          <a:p>
            <a:r>
              <a:rPr lang="en-US" sz="1700" dirty="0"/>
              <a:t>It includes a wide variety of challenging face detection scenarios, including extreme lighting, expressions, and crowded backgrounds.  </a:t>
            </a:r>
          </a:p>
          <a:p>
            <a:r>
              <a:rPr lang="en-US" sz="1700" dirty="0"/>
              <a:t>Each face is annotated with a bounding box and attributes such as blur, expression, occlusion, and pose.  </a:t>
            </a:r>
          </a:p>
          <a:p>
            <a:r>
              <a:rPr lang="en-US" sz="1700" dirty="0"/>
              <a:t>We used WIDER FACE to train YOLO for robust and accurate face detection across real-world conditions.</a:t>
            </a:r>
            <a:endParaRPr lang="en-IN" sz="1700" dirty="0"/>
          </a:p>
        </p:txBody>
      </p:sp>
    </p:spTree>
    <p:extLst>
      <p:ext uri="{BB962C8B-B14F-4D97-AF65-F5344CB8AC3E}">
        <p14:creationId xmlns:p14="http://schemas.microsoft.com/office/powerpoint/2010/main" val="3430428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25FE9-9999-C312-889E-42958BEB65A6}"/>
              </a:ext>
            </a:extLst>
          </p:cNvPr>
          <p:cNvSpPr>
            <a:spLocks noGrp="1"/>
          </p:cNvSpPr>
          <p:nvPr>
            <p:ph type="title"/>
          </p:nvPr>
        </p:nvSpPr>
        <p:spPr>
          <a:xfrm>
            <a:off x="1066800" y="642594"/>
            <a:ext cx="10058400" cy="525806"/>
          </a:xfrm>
        </p:spPr>
        <p:txBody>
          <a:bodyPr>
            <a:normAutofit fontScale="90000"/>
          </a:bodyPr>
          <a:lstStyle/>
          <a:p>
            <a:r>
              <a:rPr lang="en-US" dirty="0"/>
              <a:t>Training Steps for Face Detection</a:t>
            </a:r>
            <a:endParaRPr lang="en-IN" dirty="0"/>
          </a:p>
        </p:txBody>
      </p:sp>
      <p:sp>
        <p:nvSpPr>
          <p:cNvPr id="3" name="Content Placeholder 2">
            <a:extLst>
              <a:ext uri="{FF2B5EF4-FFF2-40B4-BE49-F238E27FC236}">
                <a16:creationId xmlns:a16="http://schemas.microsoft.com/office/drawing/2014/main" id="{3D2B8C0E-6336-1413-B1E0-5FE8B21372A4}"/>
              </a:ext>
            </a:extLst>
          </p:cNvPr>
          <p:cNvSpPr>
            <a:spLocks noGrp="1"/>
          </p:cNvSpPr>
          <p:nvPr>
            <p:ph idx="1"/>
          </p:nvPr>
        </p:nvSpPr>
        <p:spPr>
          <a:xfrm>
            <a:off x="1066800" y="1530349"/>
            <a:ext cx="10058400" cy="4784725"/>
          </a:xfrm>
        </p:spPr>
        <p:txBody>
          <a:bodyPr>
            <a:noAutofit/>
          </a:bodyPr>
          <a:lstStyle/>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Parse WIDER FACE Annotations</a:t>
            </a:r>
          </a:p>
          <a:p>
            <a:pPr marL="274320" lvl="1" indent="0">
              <a:buNone/>
            </a:pPr>
            <a:r>
              <a:rPr lang="en-US" sz="1700" dirty="0"/>
              <a:t>Converted WIDER FACE bounding boxes into YOLO format (</a:t>
            </a:r>
            <a:r>
              <a:rPr lang="en-US" sz="1700" dirty="0" err="1"/>
              <a:t>x_center</a:t>
            </a:r>
            <a:r>
              <a:rPr lang="en-US" sz="1700" dirty="0"/>
              <a:t>, </a:t>
            </a:r>
            <a:r>
              <a:rPr lang="en-US" sz="1700" dirty="0" err="1"/>
              <a:t>y_center</a:t>
            </a:r>
            <a:r>
              <a:rPr lang="en-US" sz="1700" dirty="0"/>
              <a:t>, width, height).</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Organize Images and Labels</a:t>
            </a:r>
          </a:p>
          <a:p>
            <a:pPr marL="274320" lvl="1" indent="0">
              <a:buNone/>
            </a:pPr>
            <a:r>
              <a:rPr lang="en-US" sz="1700" dirty="0"/>
              <a:t>Created separate folders for images and corresponding label text files (for both training and validation sets).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Generate YOLO YAML Config</a:t>
            </a:r>
          </a:p>
          <a:p>
            <a:pPr marL="274320" lvl="1" indent="0">
              <a:buNone/>
            </a:pPr>
            <a:r>
              <a:rPr lang="en-US" sz="1700" dirty="0"/>
              <a:t>Defined dataset paths and class names (face) in a YAML file for YOLO training.</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Train YOLO Model</a:t>
            </a:r>
          </a:p>
          <a:p>
            <a:pPr marL="274320" lvl="1" indent="0">
              <a:buNone/>
            </a:pPr>
            <a:r>
              <a:rPr lang="en-US" sz="1700" dirty="0"/>
              <a:t>Used the YOLO 11l architecture with our dataset, training it for 15 epochs using the </a:t>
            </a:r>
            <a:r>
              <a:rPr lang="en-US" sz="1700" dirty="0" err="1"/>
              <a:t>Ultralytics</a:t>
            </a:r>
            <a:r>
              <a:rPr lang="en-US" sz="1700" dirty="0"/>
              <a:t> YOLO library.</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Validate Model on WIDER FACE Val Set</a:t>
            </a:r>
          </a:p>
          <a:p>
            <a:pPr marL="274320" lvl="1" indent="0">
              <a:buNone/>
            </a:pPr>
            <a:r>
              <a:rPr lang="en-US" sz="1700" dirty="0"/>
              <a:t>Evaluated the trained model using the validation set and measured metrics like Precision, Recall, AP@0.5, and AP@0.5:0.95</a:t>
            </a:r>
            <a:endParaRPr lang="en-IN" sz="1700" dirty="0"/>
          </a:p>
        </p:txBody>
      </p:sp>
    </p:spTree>
    <p:extLst>
      <p:ext uri="{BB962C8B-B14F-4D97-AF65-F5344CB8AC3E}">
        <p14:creationId xmlns:p14="http://schemas.microsoft.com/office/powerpoint/2010/main" val="4175409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249E6-244A-25DE-63F1-AEAB476D069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13E8A7-33FE-3150-0C80-C6758A91A39A}"/>
              </a:ext>
            </a:extLst>
          </p:cNvPr>
          <p:cNvPicPr>
            <a:picLocks noGrp="1" noChangeAspect="1"/>
          </p:cNvPicPr>
          <p:nvPr>
            <p:ph idx="4294967295"/>
          </p:nvPr>
        </p:nvPicPr>
        <p:blipFill>
          <a:blip r:embed="rId2"/>
          <a:stretch>
            <a:fillRect/>
          </a:stretch>
        </p:blipFill>
        <p:spPr>
          <a:xfrm>
            <a:off x="592347" y="1245394"/>
            <a:ext cx="6308725" cy="4367212"/>
          </a:xfrm>
        </p:spPr>
      </p:pic>
      <p:pic>
        <p:nvPicPr>
          <p:cNvPr id="7" name="Picture 6">
            <a:extLst>
              <a:ext uri="{FF2B5EF4-FFF2-40B4-BE49-F238E27FC236}">
                <a16:creationId xmlns:a16="http://schemas.microsoft.com/office/drawing/2014/main" id="{C8EC825B-35FD-5906-4B55-6494287C65C4}"/>
              </a:ext>
            </a:extLst>
          </p:cNvPr>
          <p:cNvPicPr>
            <a:picLocks noChangeAspect="1"/>
          </p:cNvPicPr>
          <p:nvPr/>
        </p:nvPicPr>
        <p:blipFill>
          <a:blip r:embed="rId3"/>
          <a:stretch>
            <a:fillRect/>
          </a:stretch>
        </p:blipFill>
        <p:spPr>
          <a:xfrm>
            <a:off x="8000281" y="2391088"/>
            <a:ext cx="3283578" cy="1853108"/>
          </a:xfrm>
          <a:prstGeom prst="rect">
            <a:avLst/>
          </a:prstGeom>
        </p:spPr>
      </p:pic>
      <p:sp>
        <p:nvSpPr>
          <p:cNvPr id="8" name="TextBox 7">
            <a:extLst>
              <a:ext uri="{FF2B5EF4-FFF2-40B4-BE49-F238E27FC236}">
                <a16:creationId xmlns:a16="http://schemas.microsoft.com/office/drawing/2014/main" id="{BE4A7EE5-8A23-CA47-D1C4-1ADAA3B39BAE}"/>
              </a:ext>
            </a:extLst>
          </p:cNvPr>
          <p:cNvSpPr txBox="1"/>
          <p:nvPr/>
        </p:nvSpPr>
        <p:spPr>
          <a:xfrm>
            <a:off x="1242204" y="5710687"/>
            <a:ext cx="4940135" cy="369332"/>
          </a:xfrm>
          <a:prstGeom prst="rect">
            <a:avLst/>
          </a:prstGeom>
          <a:noFill/>
        </p:spPr>
        <p:txBody>
          <a:bodyPr wrap="none" rtlCol="0">
            <a:spAutoFit/>
          </a:bodyPr>
          <a:lstStyle/>
          <a:p>
            <a:r>
              <a:rPr lang="en-US" dirty="0"/>
              <a:t>Fig 1: Sample Image used for detecting faces</a:t>
            </a:r>
            <a:endParaRPr lang="en-IN" dirty="0"/>
          </a:p>
        </p:txBody>
      </p:sp>
      <p:sp>
        <p:nvSpPr>
          <p:cNvPr id="9" name="TextBox 8">
            <a:extLst>
              <a:ext uri="{FF2B5EF4-FFF2-40B4-BE49-F238E27FC236}">
                <a16:creationId xmlns:a16="http://schemas.microsoft.com/office/drawing/2014/main" id="{EF2590CA-9A66-5E62-CA0E-3DE8AEE5368D}"/>
              </a:ext>
            </a:extLst>
          </p:cNvPr>
          <p:cNvSpPr txBox="1"/>
          <p:nvPr/>
        </p:nvSpPr>
        <p:spPr>
          <a:xfrm>
            <a:off x="7512961" y="4405222"/>
            <a:ext cx="4258217" cy="369332"/>
          </a:xfrm>
          <a:prstGeom prst="rect">
            <a:avLst/>
          </a:prstGeom>
          <a:noFill/>
        </p:spPr>
        <p:txBody>
          <a:bodyPr wrap="none" rtlCol="0">
            <a:spAutoFit/>
          </a:bodyPr>
          <a:lstStyle/>
          <a:p>
            <a:r>
              <a:rPr lang="en-US" dirty="0"/>
              <a:t>Fig 2: Results from Validation </a:t>
            </a:r>
            <a:r>
              <a:rPr lang="en-US" dirty="0" err="1"/>
              <a:t>Dateset</a:t>
            </a:r>
            <a:endParaRPr lang="en-IN" dirty="0"/>
          </a:p>
        </p:txBody>
      </p:sp>
    </p:spTree>
    <p:extLst>
      <p:ext uri="{BB962C8B-B14F-4D97-AF65-F5344CB8AC3E}">
        <p14:creationId xmlns:p14="http://schemas.microsoft.com/office/powerpoint/2010/main" val="1924808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A396E-F0F9-2067-A97E-AEEB47B779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617FE1-4F2B-A2EF-7F49-EF0A7520CE7B}"/>
              </a:ext>
            </a:extLst>
          </p:cNvPr>
          <p:cNvSpPr>
            <a:spLocks noGrp="1"/>
          </p:cNvSpPr>
          <p:nvPr>
            <p:ph type="title"/>
          </p:nvPr>
        </p:nvSpPr>
        <p:spPr>
          <a:xfrm>
            <a:off x="1066800" y="642594"/>
            <a:ext cx="10058400" cy="500406"/>
          </a:xfrm>
        </p:spPr>
        <p:txBody>
          <a:bodyPr>
            <a:noAutofit/>
          </a:bodyPr>
          <a:lstStyle/>
          <a:p>
            <a:r>
              <a:rPr lang="en-US" b="1" dirty="0" err="1">
                <a:latin typeface="Times New Roman" panose="02020603050405020304" pitchFamily="18" charset="0"/>
                <a:cs typeface="Times New Roman" panose="02020603050405020304" pitchFamily="18" charset="0"/>
              </a:rPr>
              <a:t>InsightFace</a:t>
            </a:r>
            <a:r>
              <a:rPr lang="en-US" b="1" dirty="0">
                <a:latin typeface="Times New Roman" panose="02020603050405020304" pitchFamily="18" charset="0"/>
                <a:cs typeface="Times New Roman" panose="02020603050405020304" pitchFamily="18" charset="0"/>
              </a:rPr>
              <a:t> – Deep Face Recognition Framework</a:t>
            </a:r>
            <a:endParaRPr lang="en-IN"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EEAE7DD-9A64-2608-4164-C7E010AD3D86}"/>
              </a:ext>
            </a:extLst>
          </p:cNvPr>
          <p:cNvSpPr>
            <a:spLocks noGrp="1"/>
          </p:cNvSpPr>
          <p:nvPr>
            <p:ph idx="1"/>
          </p:nvPr>
        </p:nvSpPr>
        <p:spPr>
          <a:xfrm>
            <a:off x="838200" y="1377949"/>
            <a:ext cx="10323739" cy="4979307"/>
          </a:xfrm>
        </p:spPr>
        <p:txBody>
          <a:bodyPr>
            <a:noAutofit/>
          </a:bodyPr>
          <a:lstStyle/>
          <a:p>
            <a:pPr>
              <a:buFont typeface="Wingdings" panose="05000000000000000000" pitchFamily="2" charset="2"/>
              <a:buChar char="Ø"/>
            </a:pPr>
            <a:r>
              <a:rPr lang="en-US" sz="2400" u="sng" dirty="0"/>
              <a:t>What is </a:t>
            </a:r>
            <a:r>
              <a:rPr lang="en-US" sz="2400" u="sng" dirty="0" err="1"/>
              <a:t>InsightFace</a:t>
            </a:r>
            <a:r>
              <a:rPr lang="en-US" sz="2400" u="sng" dirty="0"/>
              <a:t>? </a:t>
            </a:r>
          </a:p>
          <a:p>
            <a:pPr marL="274320" lvl="1" indent="0">
              <a:buNone/>
            </a:pPr>
            <a:r>
              <a:rPr lang="en-US" sz="1800" dirty="0" err="1"/>
              <a:t>InsightFace</a:t>
            </a:r>
            <a:r>
              <a:rPr lang="en-US" sz="1800" dirty="0"/>
              <a:t> is an open-source deep face analysis toolkit based on state-of-the-art deep learning models. It provides high accuracy, fast performance, and  is widely used in research and commercial applications for facial recognition tasks.</a:t>
            </a:r>
          </a:p>
          <a:p>
            <a:pPr>
              <a:buFont typeface="Wingdings" panose="05000000000000000000" pitchFamily="2" charset="2"/>
              <a:buChar char="Ø"/>
            </a:pPr>
            <a:r>
              <a:rPr lang="en-US" sz="1700" u="sng" dirty="0"/>
              <a:t> </a:t>
            </a:r>
            <a:r>
              <a:rPr lang="en-US" sz="2400" u="sng" dirty="0"/>
              <a:t>Core Capabilities: </a:t>
            </a:r>
          </a:p>
          <a:p>
            <a:pPr marL="274320" lvl="1" indent="0">
              <a:buNone/>
            </a:pPr>
            <a:r>
              <a:rPr lang="en-US" sz="1800" dirty="0"/>
              <a:t>Includes face detection, alignment, face recognition (embedding extraction), and age/gender prediction.</a:t>
            </a:r>
          </a:p>
          <a:p>
            <a:pPr>
              <a:buFont typeface="Wingdings" panose="05000000000000000000" pitchFamily="2" charset="2"/>
              <a:buChar char="Ø"/>
            </a:pPr>
            <a:r>
              <a:rPr lang="en-US" sz="1700" u="sng" dirty="0"/>
              <a:t> </a:t>
            </a:r>
            <a:r>
              <a:rPr lang="en-US" sz="2400" u="sng" dirty="0"/>
              <a:t>Face Embeddings: </a:t>
            </a:r>
          </a:p>
          <a:p>
            <a:pPr marL="274320" lvl="1" indent="0">
              <a:buNone/>
            </a:pPr>
            <a:r>
              <a:rPr lang="en-US" sz="1800" dirty="0"/>
              <a:t>Converts faces into 512-dimensional normalized vectors that represent facial features uniquely and compactly. </a:t>
            </a:r>
          </a:p>
          <a:p>
            <a:pPr>
              <a:buFont typeface="Wingdings" panose="05000000000000000000" pitchFamily="2" charset="2"/>
              <a:buChar char="Ø"/>
            </a:pPr>
            <a:r>
              <a:rPr lang="en-US" sz="1700" u="sng" dirty="0"/>
              <a:t> </a:t>
            </a:r>
            <a:r>
              <a:rPr lang="en-US" sz="2400" u="sng" dirty="0"/>
              <a:t>Models Used:</a:t>
            </a:r>
          </a:p>
          <a:p>
            <a:pPr marL="274320" lvl="1" indent="0">
              <a:buNone/>
            </a:pPr>
            <a:r>
              <a:rPr lang="en-US" sz="1800" u="sng" dirty="0"/>
              <a:t> </a:t>
            </a:r>
            <a:r>
              <a:rPr lang="en-US" sz="1800" dirty="0"/>
              <a:t>We used the </a:t>
            </a:r>
            <a:r>
              <a:rPr lang="en-US" sz="1800" dirty="0" err="1"/>
              <a:t>buffalo_l</a:t>
            </a:r>
            <a:r>
              <a:rPr lang="en-US" sz="1800" dirty="0"/>
              <a:t> model from </a:t>
            </a:r>
            <a:r>
              <a:rPr lang="en-US" sz="1800" dirty="0" err="1"/>
              <a:t>InsightFace</a:t>
            </a:r>
            <a:r>
              <a:rPr lang="en-US" sz="1800" dirty="0"/>
              <a:t> which provides accurate embeddings even for cropped or misaligned faces.</a:t>
            </a:r>
          </a:p>
          <a:p>
            <a:pPr marL="0" indent="0">
              <a:buNone/>
            </a:pPr>
            <a:r>
              <a:rPr lang="en-US" sz="1700" u="sng" dirty="0"/>
              <a:t> </a:t>
            </a:r>
            <a:endParaRPr lang="en-IN" sz="1700" dirty="0"/>
          </a:p>
        </p:txBody>
      </p:sp>
    </p:spTree>
    <p:extLst>
      <p:ext uri="{BB962C8B-B14F-4D97-AF65-F5344CB8AC3E}">
        <p14:creationId xmlns:p14="http://schemas.microsoft.com/office/powerpoint/2010/main" val="85370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E4EF0-F865-3607-BC91-3CAFC7C63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D935D-6681-B900-D48C-7263E1E74F29}"/>
              </a:ext>
            </a:extLst>
          </p:cNvPr>
          <p:cNvSpPr>
            <a:spLocks noGrp="1"/>
          </p:cNvSpPr>
          <p:nvPr>
            <p:ph type="title"/>
          </p:nvPr>
        </p:nvSpPr>
        <p:spPr>
          <a:xfrm>
            <a:off x="1066800" y="642594"/>
            <a:ext cx="10058400" cy="525806"/>
          </a:xfrm>
        </p:spPr>
        <p:txBody>
          <a:bodyPr>
            <a:noAutofit/>
          </a:bodyPr>
          <a:lstStyle/>
          <a:p>
            <a:r>
              <a:rPr lang="en-US" sz="4400" b="1" dirty="0">
                <a:latin typeface="Times New Roman" panose="02020603050405020304" pitchFamily="18" charset="0"/>
                <a:cs typeface="Times New Roman" panose="02020603050405020304" pitchFamily="18" charset="0"/>
              </a:rPr>
              <a:t>Steps for Feature Extraction</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EE79EA-1D15-EE8B-52F8-E928FEFFA6F3}"/>
              </a:ext>
            </a:extLst>
          </p:cNvPr>
          <p:cNvSpPr>
            <a:spLocks noGrp="1"/>
          </p:cNvSpPr>
          <p:nvPr>
            <p:ph idx="1"/>
          </p:nvPr>
        </p:nvSpPr>
        <p:spPr>
          <a:xfrm>
            <a:off x="1066800" y="1530349"/>
            <a:ext cx="10058400" cy="4784725"/>
          </a:xfrm>
        </p:spPr>
        <p:txBody>
          <a:bodyPr>
            <a:noAutofit/>
          </a:bodyPr>
          <a:lstStyle/>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Load and Preprocess Image: </a:t>
            </a:r>
            <a:r>
              <a:rPr lang="en-US" sz="1700" dirty="0"/>
              <a:t>Read the image using OpenCV and convert it to RGB for processing.</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Face Detection using YOLO: </a:t>
            </a:r>
            <a:r>
              <a:rPr lang="en-US" sz="1700" dirty="0"/>
              <a:t>Use the custom-trained YOLO model to detect all faces present in the image.</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Crop Detected Faces: </a:t>
            </a:r>
            <a:r>
              <a:rPr lang="en-US" sz="1700" dirty="0"/>
              <a:t>Extract individual face regions from the image based on YOLO’s bounding boxes.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Initialize </a:t>
            </a:r>
            <a:r>
              <a:rPr lang="en-US" sz="2000" b="1" dirty="0" err="1">
                <a:latin typeface="Times New Roman" panose="02020603050405020304" pitchFamily="18" charset="0"/>
                <a:cs typeface="Times New Roman" panose="02020603050405020304" pitchFamily="18" charset="0"/>
              </a:rPr>
              <a:t>InsightFace</a:t>
            </a:r>
            <a:r>
              <a:rPr lang="en-US" sz="2000" b="1" dirty="0">
                <a:latin typeface="Times New Roman" panose="02020603050405020304" pitchFamily="18" charset="0"/>
                <a:cs typeface="Times New Roman" panose="02020603050405020304" pitchFamily="18" charset="0"/>
              </a:rPr>
              <a:t> Model: </a:t>
            </a:r>
            <a:r>
              <a:rPr lang="en-US" sz="1700" dirty="0"/>
              <a:t>Set up the </a:t>
            </a:r>
            <a:r>
              <a:rPr lang="en-US" sz="1700" dirty="0" err="1"/>
              <a:t>buffalo_l</a:t>
            </a:r>
            <a:r>
              <a:rPr lang="en-US" sz="1700" dirty="0"/>
              <a:t> model for generating 512-dimensional face embeddings.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Extract Face Embeddings: </a:t>
            </a:r>
            <a:r>
              <a:rPr lang="en-US" sz="1700" dirty="0"/>
              <a:t>For each cropped face, compute the normalized face embedding using </a:t>
            </a:r>
            <a:r>
              <a:rPr lang="en-US" sz="1700" dirty="0" err="1"/>
              <a:t>InsightFace</a:t>
            </a:r>
            <a:r>
              <a:rPr lang="en-US" sz="1700" dirty="0"/>
              <a:t>.</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Optional Visualization: </a:t>
            </a:r>
            <a:r>
              <a:rPr lang="en-US" sz="1700" dirty="0"/>
              <a:t>Optionally display detected face crops for verification and debugging.</a:t>
            </a:r>
          </a:p>
        </p:txBody>
      </p:sp>
    </p:spTree>
    <p:extLst>
      <p:ext uri="{BB962C8B-B14F-4D97-AF65-F5344CB8AC3E}">
        <p14:creationId xmlns:p14="http://schemas.microsoft.com/office/powerpoint/2010/main" val="2974301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71FBB-D11C-CCE0-FDB1-74DD11D83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2760C-E5CF-30B6-C120-D7BAD81303E5}"/>
              </a:ext>
            </a:extLst>
          </p:cNvPr>
          <p:cNvSpPr>
            <a:spLocks noGrp="1"/>
          </p:cNvSpPr>
          <p:nvPr>
            <p:ph type="title"/>
          </p:nvPr>
        </p:nvSpPr>
        <p:spPr>
          <a:xfrm>
            <a:off x="1066800" y="642594"/>
            <a:ext cx="10058400" cy="525806"/>
          </a:xfrm>
        </p:spPr>
        <p:txBody>
          <a:bodyPr>
            <a:noAutofit/>
          </a:bodyPr>
          <a:lstStyle/>
          <a:p>
            <a:r>
              <a:rPr lang="en-US" sz="4800" b="1" dirty="0">
                <a:latin typeface="Times New Roman" panose="02020603050405020304" pitchFamily="18" charset="0"/>
                <a:cs typeface="Times New Roman" panose="02020603050405020304" pitchFamily="18" charset="0"/>
              </a:rPr>
              <a:t>Steps for Face Matching</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1C3C78-740F-5219-2BE4-227BBC28FEF2}"/>
              </a:ext>
            </a:extLst>
          </p:cNvPr>
          <p:cNvSpPr>
            <a:spLocks noGrp="1"/>
          </p:cNvSpPr>
          <p:nvPr>
            <p:ph idx="1"/>
          </p:nvPr>
        </p:nvSpPr>
        <p:spPr>
          <a:xfrm>
            <a:off x="776287" y="1501774"/>
            <a:ext cx="10639425" cy="4784725"/>
          </a:xfrm>
        </p:spPr>
        <p:txBody>
          <a:bodyPr>
            <a:noAutofit/>
          </a:bodyPr>
          <a:lstStyle/>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Load Reference Embeddings: </a:t>
            </a:r>
            <a:r>
              <a:rPr lang="en-US" sz="1700" dirty="0"/>
              <a:t>Load precomputed embeddings of known individuals from a .</a:t>
            </a:r>
            <a:r>
              <a:rPr lang="en-US" sz="1700" dirty="0" err="1"/>
              <a:t>pkl</a:t>
            </a:r>
            <a:r>
              <a:rPr lang="en-US" sz="1700" dirty="0"/>
              <a:t> file.</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Convert to Matrix Format: </a:t>
            </a:r>
            <a:r>
              <a:rPr lang="en-US" sz="1700" dirty="0"/>
              <a:t>Convert embeddings into a NumPy array for efficient similarity computation.</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Extract Test Image Embeddings: </a:t>
            </a:r>
            <a:r>
              <a:rPr lang="en-US" sz="1700" dirty="0"/>
              <a:t>Detect and extract embeddings of all faces from a test image.</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Compute Cosine Similarity: </a:t>
            </a:r>
            <a:r>
              <a:rPr lang="en-US" sz="1700" dirty="0"/>
              <a:t>Multiply the reference matrix with test embeddings to get similarity scores.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Normalize Similarities: </a:t>
            </a:r>
            <a:r>
              <a:rPr lang="en-US" sz="1700" dirty="0"/>
              <a:t>Optionally normalize the similarity matrix for better interpretability.</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Threshold-Based Matching: </a:t>
            </a:r>
            <a:r>
              <a:rPr lang="en-US" sz="1700" dirty="0"/>
              <a:t>For each reference identity, find the most similar face if it exceeds a set threshold </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Display Matching Results: </a:t>
            </a:r>
            <a:r>
              <a:rPr lang="en-US" sz="1700" dirty="0"/>
              <a:t>Print  which face matched with which identity along with confidence scores.</a:t>
            </a:r>
          </a:p>
        </p:txBody>
      </p:sp>
    </p:spTree>
    <p:extLst>
      <p:ext uri="{BB962C8B-B14F-4D97-AF65-F5344CB8AC3E}">
        <p14:creationId xmlns:p14="http://schemas.microsoft.com/office/powerpoint/2010/main" val="194582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99BBB9-C28D-BAD5-2DBB-1CE61075178E}"/>
              </a:ext>
            </a:extLst>
          </p:cNvPr>
          <p:cNvPicPr>
            <a:picLocks noChangeAspect="1"/>
          </p:cNvPicPr>
          <p:nvPr/>
        </p:nvPicPr>
        <p:blipFill>
          <a:blip r:embed="rId2"/>
          <a:stretch>
            <a:fillRect/>
          </a:stretch>
        </p:blipFill>
        <p:spPr>
          <a:xfrm>
            <a:off x="483078" y="471578"/>
            <a:ext cx="4019911" cy="3014934"/>
          </a:xfrm>
          <a:prstGeom prst="rect">
            <a:avLst/>
          </a:prstGeom>
        </p:spPr>
      </p:pic>
      <p:pic>
        <p:nvPicPr>
          <p:cNvPr id="5" name="Picture 4">
            <a:extLst>
              <a:ext uri="{FF2B5EF4-FFF2-40B4-BE49-F238E27FC236}">
                <a16:creationId xmlns:a16="http://schemas.microsoft.com/office/drawing/2014/main" id="{399E512C-EEA2-0A3F-475B-88402A1283A9}"/>
              </a:ext>
            </a:extLst>
          </p:cNvPr>
          <p:cNvPicPr>
            <a:picLocks noChangeAspect="1"/>
          </p:cNvPicPr>
          <p:nvPr/>
        </p:nvPicPr>
        <p:blipFill>
          <a:blip r:embed="rId3"/>
          <a:stretch>
            <a:fillRect/>
          </a:stretch>
        </p:blipFill>
        <p:spPr>
          <a:xfrm>
            <a:off x="4576791" y="2725947"/>
            <a:ext cx="7190699" cy="3715110"/>
          </a:xfrm>
          <a:prstGeom prst="rect">
            <a:avLst/>
          </a:prstGeom>
        </p:spPr>
      </p:pic>
      <p:pic>
        <p:nvPicPr>
          <p:cNvPr id="7" name="Picture 6">
            <a:extLst>
              <a:ext uri="{FF2B5EF4-FFF2-40B4-BE49-F238E27FC236}">
                <a16:creationId xmlns:a16="http://schemas.microsoft.com/office/drawing/2014/main" id="{0DCEBE0D-2571-A248-812D-A74D6AE28B3A}"/>
              </a:ext>
            </a:extLst>
          </p:cNvPr>
          <p:cNvPicPr>
            <a:picLocks noChangeAspect="1"/>
          </p:cNvPicPr>
          <p:nvPr/>
        </p:nvPicPr>
        <p:blipFill>
          <a:blip r:embed="rId4"/>
          <a:stretch>
            <a:fillRect/>
          </a:stretch>
        </p:blipFill>
        <p:spPr>
          <a:xfrm>
            <a:off x="553865" y="4067355"/>
            <a:ext cx="3878336" cy="1844615"/>
          </a:xfrm>
          <a:prstGeom prst="rect">
            <a:avLst/>
          </a:prstGeom>
        </p:spPr>
      </p:pic>
    </p:spTree>
    <p:extLst>
      <p:ext uri="{BB962C8B-B14F-4D97-AF65-F5344CB8AC3E}">
        <p14:creationId xmlns:p14="http://schemas.microsoft.com/office/powerpoint/2010/main" val="3272101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2.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2.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F3B215-496E-4790-A364-7C1C46DEC77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{140F0246-0FEC-49BD-A7D0-06882017AADD}tf78829772_win32</Template>
  <TotalTime>237</TotalTime>
  <Words>842</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 Rounded MT Bold</vt:lpstr>
      <vt:lpstr>Garamond</vt:lpstr>
      <vt:lpstr>Sagona Book</vt:lpstr>
      <vt:lpstr>Sagona ExtraLight</vt:lpstr>
      <vt:lpstr>Times New Roman</vt:lpstr>
      <vt:lpstr>Wingdings</vt:lpstr>
      <vt:lpstr>SavonVTI</vt:lpstr>
      <vt:lpstr> smart Attendance system using face recognition</vt:lpstr>
      <vt:lpstr>Project Overview</vt:lpstr>
      <vt:lpstr>YOLO 11l  (You Only Look Once) </vt:lpstr>
      <vt:lpstr>WIDER FACE Dataset</vt:lpstr>
      <vt:lpstr>Training Steps for Face Detection</vt:lpstr>
      <vt:lpstr>PowerPoint Presentation</vt:lpstr>
      <vt:lpstr>InsightFace – Deep Face Recognition Framework</vt:lpstr>
      <vt:lpstr>Steps for Feature Extraction</vt:lpstr>
      <vt:lpstr>Steps for Face Matching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RUDRA</dc:creator>
  <cp:lastModifiedBy>ROHAN RUDRA</cp:lastModifiedBy>
  <cp:revision>4</cp:revision>
  <dcterms:created xsi:type="dcterms:W3CDTF">2025-04-17T20:10:16Z</dcterms:created>
  <dcterms:modified xsi:type="dcterms:W3CDTF">2025-04-18T04:50:52Z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